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01 • KHẢO SÁT &amp; SÀNG LỌC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Điểm Khởi Đầu: 3 Lĩnh Vực &amp; 11 Bộ Dữ Liệu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Đo kiểm các họ mô hình gợi ý (MF, item2vec, GRU4Rec/SASRec, LLM) trên Du lịch, Giao đồ ăn và Gọi xe.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Tuần 1 •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8229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54680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1E40AF"/>
                </a:solidFill>
                <a:latin typeface="Segoe UI"/>
              </a:defRPr>
            </a:pPr>
            <a:r>
              <a:t>11 Datasets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Sàng Lọc Toàn Diện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8 bộ đề xuất + 3 bộ tìm kiếm mở rộng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64792"/>
            <a:ext cx="3154680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100% Scripted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Đo Kiểm Bằng Code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Xử lý chunked cho file lớn hơn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91640"/>
            <a:ext cx="35048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1764792"/>
            <a:ext cx="323057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0 – 100 Điểm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Rubric Độc Lập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5 cổng Pass/Fail + 10 tiêu chí trọng số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697480"/>
          <a:ext cx="1072865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1188720"/>
                <a:gridCol w="1828800"/>
                <a:gridCol w="2316175"/>
              </a:tblGrid>
              <a:tr h="404948">
                <a:tc>
                  <a:txBody>
                    <a:bodyPr tIns="54864" b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Lĩnh vực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Bộ dữ liệu (Dataset)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Điểm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Phân tầng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Giấy phép sử dụng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4948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Du lịch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Expedia Hotel Recommendations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Cốt lõi (Ưu tiên)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Giới hạn (Kaggle Rules)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4948"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Du lịch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Trivago RecSys Challenge 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Cốt lõi (Dự phòng)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Giới hạn (Kaggle mirror)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Du lịch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Airbnb New User (46) • Hotel Booking (46)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Loại bỏ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Không đủ chuỗi / Trùng lặp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Đồ ăn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Akeed (73) • Instacart (69) • Yelp (62)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62 – 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Thứ cấp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Tọa độ giả lập / Lệch mục tiêu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Gọi xe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Porto Taxi (69) • Citi Bike (52) • NYC TLC (50)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50 – 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Thứ cấp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Không có ID hành khách để gợi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52"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MovieLens 100k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Thử nghiệm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Chỉ dùng kiểm thử đường ống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88152"/>
            <a:ext cx="10454335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💡 Nguyên tắc cốt lõi:  </a:t>
            </a:r>
            <a:r>
              <a:t>Rubric xếp hạng chất lượng dữ liệu trong từng lĩnh vực, không tự quyết định lựa chọn lĩnh vực nghiên cứu. Xem chi tiết thang điểm tại Phụ lục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reports/summary/eda_summary.md §2 • docs/dataset_scores.md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02 • QUYẾT ĐỊNH CHIẾN LƯỢC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Một Lĩnh Vực, Một Bộ Dữ Liệu: Du Lịch — Expedia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Lựa chọn dựa trên tính khả thi thực tế khi trả lời câu hỏi nghiên cứu bằng dữ liệu thật.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Scope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Segoe UI"/>
              </a:defRPr>
            </a:pPr>
            <a:r>
              <a:t>1. Du lịch — Expedia   [ĐƯỢC CHỌN]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Actor thực: 813,985 user có booking thật.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Ngữ cảnh 100% thật: Đoàn khách (solo/cặp đôi/gia đình), ngày đi/về, gói combo, 2 năm chu kỳ mùa vụ.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Dữ liệu cực sạch: 0% thiếu ngày đi/về; chỉ 8 khóa trùng / 3M booking.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Khớp lộ trình mentor: Đáp ứng hoàn hảo Phase 3 (Sequential) &amp; Phase 4 (Context-aware).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7830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2. Đồ ăn — Akeed   [TẠM HOÃN]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Actor: 27,445 khách hàng thật.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Tọa độ giả lập 100%: Tọa độ nằm ngoài Oman; không thể ghép dữ liệu thời tiết thực tế.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Chất lượng lỗi: 41.1% đơn hàng có khoảng cách giao &lt;= 0; 81 đơn trùng ID.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Thiếu 2/4 yếu tố của RQ2: Rủi ro học thuật quá lớn nếu tiếp tục.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830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3. Gọi xe — Porto / NYC   [KHÔNG KHẢ THI]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Không có ID hành khách: Chỉ có ID tài xế (Porto), vùng đón (TLC), trạm xe (Citi Bike).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Không thể cá nhân hóa: Không có lịch sử người đi để gợi ý sản phẩm kế tiếp.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Lạc đề nghiên cứu: Bài toán dự đoán điểm đến taxi nằm ngoài kế hoạch các phase của mentor.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525780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🎯 Trọng tâm:  </a:t>
            </a:r>
            <a:r>
              <a:t>Tập trung giải quyết trọn vẹn RQ1 (So sánh mô hình theo ngữ cảnh) và RQ4 (Đánh đổi Accuracy vs Diversity).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2375" y="5669280"/>
            <a:ext cx="5257800" cy="54864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9535" y="5742432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⏸️ Tạm hoãn:  </a:t>
            </a:r>
            <a:r>
              <a:t>Tạm dừng RQ2 (Đồ ăn) và RQ3 (Bán chéo giả lập) để dồn toàn lực vào lĩnh vực Du lịch (Vinpearl proxy).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data cards expedia.md, akeed.md, porto_taxi.md • reports/summary/eda_summary.md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03 • ĐỊNH NGHĨA BÀI TOÁN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Next-Best-Product Cho Du Lịch: Định Nghĩa &amp; Thách Thức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Dự đoán điểm đến / hạng phòng / gói nghỉ dưỡng khách hàng có xác suất đặt cao nhất.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Problem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40AF"/>
                </a:solidFill>
                <a:latin typeface="Segoe UI"/>
              </a:defRPr>
            </a:pPr>
            <a:r>
              <a:t>Không Gian Bài Toán (Expedia Proxy)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Đầu vào du khách: user_id, lịch sử đặt, nguồn gốc khách, khoảng cách ước tính.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Ngữ cảnh chuyến đi:</a:t>
            </a:r>
            <a:br/>
            <a:r>
              <a:t>  • Đoàn: Người lớn, trẻ em, số phòng</a:t>
            </a:r>
            <a:br/>
            <a:r>
              <a:t>  • Lịch trình: Ngày nhận / trả phòng (mùa vụ)</a:t>
            </a:r>
            <a:br/>
            <a:r>
              <a:t>  • Kênh: Tìm kiếm điểm đến (srch_destination_id), cờ gói combo (is_package).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Mục tiêu dự đoán (Target): 100 cụm khách sạn (hotel_cluster) — đại diện cho hạng phòng / combo nghỉ dưỡng Vinpearl.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1783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4 Thách Thức Đặc Thù Của Du Lịch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5255" y="2240280"/>
            <a:ext cx="2377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231343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Median = 2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Tần Suất Rất Thấp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38.8% user chỉ đặt đúng 1 lần trong đời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240280"/>
            <a:ext cx="2377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5.4% → 10.7%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Mùa Vụ Biến Động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Đáy Tháng 2 (5.4%), Đỉnh Tháng 8 (10.7%)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5255" y="3886200"/>
            <a:ext cx="2377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2415" y="395935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44% vs 19%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Ngữ Cảnh Đoàn Khách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Cặp đôi (44%) vs Gia đình (19%) có nhu cầu rất khác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886200"/>
            <a:ext cx="2377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395935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97.10%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Độ Thưa Tương Tác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814K user × 100 cụm phòng nghỉ dưỡng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742432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⚠️ Giới hạn phạm vi (Known Gap):  </a:t>
            </a:r>
            <a:r>
              <a:t>Dịch vụ tại điểm lưu trú (in-stay: spa, ẩm thực, vui chơi) không có dataset công khai tương ứng. Do đó, benchmark tập trung 100% vào quyết định đặt phòng trước chuyến đi (pre-stay).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docs/data_cards/expedia.md • reports/summary/expedia_profile.json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04 • THIẾT KẾ THỰC NGHIỆM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5 Họ Mô Hình Benchmark &amp; Giao Thức Đánh Giá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So sánh công bằng, chặt chẽ giữa các kiến trúc truyền thống, học biểu diễn chuỗi và LLM.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Benchmark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0299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1. Baselines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Popularity (toàn cục, theo điểm đến, theo mùa), Repeat-Last, ItemKNN.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91640"/>
            <a:ext cx="2029968" cy="1737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08376" y="178308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Segoe UI"/>
              </a:defRPr>
            </a:pPr>
            <a:r>
              <a:t>2. Matrix Fact.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Học vector tiềm ẩn User-Item. 61.2% user có &gt;= 2 booking để huấn luyện.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691640"/>
            <a:ext cx="2029968" cy="1737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78308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Segoe UI"/>
              </a:defRPr>
            </a:pPr>
            <a:r>
              <a:t>3. item2vec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Nhúng item từ sự đồng xuất hiện trong chuỗi thời gian thực của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691640"/>
            <a:ext cx="2029968" cy="1737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178308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Segoe UI"/>
              </a:defRPr>
            </a:pPr>
            <a:r>
              <a:t>4. GRU4Rec/SAS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Học chuỗi tuần tự; tích hợp side features (đoàn khách, ngày đi).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32" y="1691640"/>
            <a:ext cx="2029968" cy="17373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E22CE"/>
                </a:solidFill>
                <a:latin typeface="Segoe UI"/>
              </a:defRPr>
            </a:pPr>
            <a:r>
              <a:t>5. LLM Rerank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Tái xếp hạng top-N dựa trên prompt ngữ cảnh và 149 latent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0728655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10728655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Giao Thức Đánh Giá Cố Định (Fixed Evaluation Protocol)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Cắt Thời Gian 80/20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Mốc cắt 2014-09-29: 2.4M train / 600K test.</a:t>
            </a:r>
            <a:br/>
            <a:r>
              <a:t>30.1% user tập test chưa từng có ở train -&gt; Thiết lập lát cắt Cold-Start độc lập đánh giá riêng biệt.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Full Ranking (100 Cụm)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Xếp hạng trên toàn bộ 100 cụm khách sạn, không lấy mẫu âm tính giả định (no sampled negatives).</a:t>
            </a:r>
            <a:br/>
            <a:r>
              <a:t>Đo lường Recall@K, NDCG@K, MRR tại K = 5, 10, 20.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Đa Dạng &amp; Tin Cậy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Bổ sung chỉ số vượt ngoài độ chính xác: Catalog Coverage, Intra-list Diversity, Popularity Bias.</a:t>
            </a:r>
            <a:br/>
            <a:r>
              <a:t>Báo cáo kết quả trung bình Mean ± Std trên &gt;= 3 random seeds.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CLAUDE.md §8 • docs/eval_protocol.md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05 • MINH BẠCH PHƯƠNG PHÁP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Vì Sao Chọn Expedia &amp; Những Giới Hạn Cần Nêu Rõ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Minh bạch học thuật: 5 ưu thế cốt lõi và 5 giới hạn kỹ thuật bắt buộc phải công khai.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Methodological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6A34A"/>
                </a:solidFill>
                <a:latin typeface="Segoe UI"/>
              </a:defRPr>
            </a:pPr>
            <a:r>
              <a:t>5 Lý Do Expedia Là Bộ Dữ Liệu Chính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1. Khớp bài toán (Task fit): User x Cluster booking là bài toán next-item trực tiếp (C1 = 2/3).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2. Đủ mọi yếu tố của RQ1: Tần suất thấp, mùa vụ 2 năm, đoàn khách và user thật để phân lát.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3. Lõi dữ liệu cực sạch: 0% thiếu ngày check-in/out, chỉ 8 key trùng / 3M booking.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4. Khả thi &amp; Tái lập: Script chunked pass nạp vừa RAM; không đòi hỏi GPU đắt tiền cho baseline.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5. Điểm Rubric cao nhất: 79/100 (tăng lên 80/100 khi bỏ tiêu chí bán chéo).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02375" y="1691640"/>
            <a:ext cx="5257800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DC2626"/>
                </a:solidFill>
                <a:latin typeface="Segoe UI"/>
              </a:defRPr>
            </a:pPr>
            <a:r>
              <a:t>5 Giới Hạn Bắt Buộc Công Khai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1. Target là cụm số ẩn danh: Không có text mô tả phòng -&gt; LLM rerank dựa trên ngữ cảnh + latent features.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2. Không có cột giá tiền: Khoảng cách bị thiếu 33.8% trên tập booking.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3. 38.8% user chỉ có 1 booking: Lát cắt Cold-Start phải báo cáo riêng, không tính cào bằng.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4. Click chiếm 92%: Click là tín hiệu yếu -&gt; Không gộp làm positive ground-truth.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5. Giấy phép Kaggle: Chỉ phục vụ nghiên cứu nội bộ, không phân phối lại dữ liệu gốc.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42432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🛡️ Quan điểm học thuật:  </a:t>
            </a:r>
            <a:r>
              <a:t>Nêu rõ giới hạn giúp thiết kế quy trình đánh giá trung thực, tránh rò rỉ dữ liệu hoặc kết luận quá lạc quan khi nghiệm thu đề tài.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docs/data_cards/expedia.md • reports/summary/travel_rubric_without_c9.txt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06 • CẤU TRÚC &amp; BẤT THƯỜNG DỮ LIỆU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Ý Nghĩa Trường Cốt Lõi &amp; Bất Thường Đo Trên Data Thật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Khảo sát 24 trường trong train.csv, giải nghĩa các trường trọng tâm và kiểm định bất thường trên 37.7M dòng.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Schema &amp;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40AF"/>
                </a:solidFill>
                <a:latin typeface="Segoe UI"/>
              </a:defRPr>
            </a:pPr>
            <a:r>
              <a:t>Ý Nghĩa Các Trường Cốt Lõi (Core Fields)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user_id: Mã du khách duy nhất (1,198,786 user toàn file, 813,985 user có booking).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is_booking: Cờ tương tác: 1 = Đặt phòng (Signal dương), 0 = Click (Tín hiệu yếu).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date_time: Thời điểm tương tác (07/01/2013 -&gt; 31/12/2014, dùng chia temporal split).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srch_ci / srch_co: Ngày nhận/trả phòng — Xác định mùa vụ và độ dài chuyến đi.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srch_adults/children: Quy mô đoàn — Phân loại Solo / Cặp đôi / Gia đình / Nhóm.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srch_destination_id: Mã điểm đến du khách tìm kiếm (36,933 điểm đến).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is_package: Cờ đặt kèm combo (1 = Gói combo nghỉ dưỡng, 0 = Phòng lẻ).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hotel_cluster: Target cần xếp hạng: 100 cụm khách sạn / hạng phòng (0–99).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02375" y="1691640"/>
            <a:ext cx="5257800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Bất Thường Đo Thực Tế (Data Anomalies)</a:t>
            </a: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Mất cân bằng tương tác cực lớn (92% vs 8%):</a:t>
            </a:r>
            <a:br/>
            <a:r>
              <a:t>Click xem chiếm 92.03% (34.7M dòng) vs Booking chỉ chiếm 7.97% (3.0M dòng).</a:t>
            </a:r>
            <a:br/>
            <a:r>
              <a:t>-&gt; Xử lý: Chỉ dùng Booking làm ground-truth dương.</a:t>
            </a: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Khuyết thiếu khoảng cách địa lý (33.8% – 35.9%):</a:t>
            </a:r>
            <a:br/>
            <a:r>
              <a:t>orig_destination_distance thiếu 35.9% toàn file (thiếu 33.8% trên booking).</a:t>
            </a:r>
            <a:br/>
            <a:r>
              <a:t>-&gt; Điểm sáng: Ngày check-in/out thiếu 0% trên booking; 21 cột còn lại 0% missing.</a:t>
            </a: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Bất thường logic cực hiếm (Đã cô lập sạch):</a:t>
            </a:r>
            <a:br/>
            <a:r>
              <a:t>• Check-out trước Check-in: Chỉ 3 dòng trên 3.0M booking.</a:t>
            </a:r>
            <a:br/>
            <a:r>
              <a:t>• Không có người lớn (0 adults): 0.17% (5,239 dòng trên booking).</a:t>
            </a:r>
            <a:br/>
            <a:r>
              <a:t>• Trùng lặp khóa (user, time, dest, cluster): Chỉ 8 bản ghi trên booking.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42432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📊 Kết luận chất lượng:  </a:t>
            </a:r>
            <a:r>
              <a:t>Dữ liệu có tỷ lệ khuyết thiếu khoảng cách cao và mất cân bằng Click/Booking lớn, nhưng lõi giao dịch Booking (3.0M dòng) cực sạch, đầy đủ 100% ngày tháng và ngữ cảnh để huấn luyện mô hình.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docs/data_cards/expedia.md • reports/summary/expedia_profile.json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07 • THẨM ĐỊNH THỰC TẾ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Expedia Hotel: Hồ Sơ Dữ Liệu Đã Kiểm Chứng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Số liệu quét toàn vẹn 37,670,293 dòng từ script profile_expedia.py.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Verified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42032" cy="100584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26771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1E40AF"/>
                </a:solidFill>
                <a:latin typeface="Segoe UI"/>
              </a:defRPr>
            </a:pPr>
            <a:r>
              <a:t>37.67M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Tổng Quy Mô Dữ Liệu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34.67M click (92%) vs 3.00M booking (8%)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91640"/>
            <a:ext cx="254203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764792"/>
            <a:ext cx="226771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813,985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Khách Hàng Đặt Phòng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61.2% khách hàng có &gt;= 2 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91640"/>
            <a:ext cx="254203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764792"/>
            <a:ext cx="226771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100 Cụm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Lớp Khách Sạn (Classes)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Độ thưa tương tác: 97.10%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91640"/>
            <a:ext cx="255391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764792"/>
            <a:ext cx="2279599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2 Năm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Chu Kỳ Thời Gian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07/01/2013 -&gt; 31/12/2014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34290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Chiều Sâu &amp; Hành Vi Lặp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Trung vị số booking/user: 2.0 (Mean = 3.69, P90 = 8.0).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Chỉ 21.3% chọn lại cụm cũ: Phần lớn là tìm kiếm cái mới -&gt; Không bị lấn át bởi baseline repeat-last.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Độ tập trung: Cụm Top 1 chiếm 4.0%, Top 10 chiếm 22.9% (Đuôi dài vừa phải).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880360"/>
            <a:ext cx="34290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97180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Mùa Vụ &amp; Gói Combo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Tháng cao điểm: T8 (10.7%), T12 (10.1%), T10 (9.8%).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Tháng thấp điểm: T2 (5.4%), T1 (6.2%).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13.7% booking là gói combo (is_package = 1).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36,933 điểm đến tìm kiếm khác nhau.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2880360"/>
            <a:ext cx="34290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97180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Cơ Cấu Đoàn Khách (Party)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👫 Cặp đôi (Couple): 44.0%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🚶 Đi một mình (Solo): 28.9%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👨‍👩‍👧 Gia đình (Family): 18.8%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• 👥 Nhóm người lớn (&gt;= 3 người): 8.1%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742432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🏨 Ánh xạ tương đương Vinpearl:  </a:t>
            </a:r>
            <a:r>
              <a:t>hotel_cluster -&gt; Hạng phòng/Combo • srch_destination_id -&gt; Điểm đến • is_package -&gt; Gói nghỉ dưỡng • Cơ cấu đoàn &amp; Ngày -&gt; Ngữ cảnh chuyến đi.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docs/data_cards/expedia.md • reports/summary/expedia_profile.json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SLIDE 08 • QUẢN TRỊ RỦI RO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Phương Án Dự Phòng: Trivago RecSys Challenge 2019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Kích hoạt chuyển đổi ngay nếu Expedia bị trùng lặp đề tài với nhóm nghiên cứu khác.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Risk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0AF"/>
                </a:solidFill>
                <a:latin typeface="Segoe UI"/>
              </a:defRPr>
            </a:pPr>
            <a:r>
              <a:t>Thế Mạnh Của Trivago (Điểm Rubric: 77/100)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Chuẩn Session-based: 15.9M dòng, 910K phiên, 1.58M clickout kèm giá hiển thị thực tế.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Có text metadata: 927K khách sạn có nhãn tiện ích (item_metadata.csv) -&gt; Rất có lợi cho LLM Reranker.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Tọa độ thực: Tên thành phố/quốc gia thật; đã test ghép thời tiết Open-Meteo khả thi.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Dữ liệu sạch: 0% missing trên 9 cột cốt lõi.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69164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02375" y="1691640"/>
            <a:ext cx="525780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7830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Đánh Đổi Nếu Phải Chuyển Đổi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Chỉ có 6 ngày dữ liệu: Mất hoàn toàn lát cắt mùa vụ trong năm của RQ1.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Bản chất bài toán đổi: Chuyển thành bài toán session-based next-clickout thay vì chuỗi dài hạn.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Độ thưa cực lớn (99.999%): 289K khách sạn, 56% user chỉ xuất hiện 1 lần duy nhất.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Tín hiệu là Click: Không phải hành vi Booking thực tế (C7 = 2 so với 3 của Expedia).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42432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❌ Các ứng viên du lịch khác bị loại:  </a:t>
            </a:r>
            <a:r>
              <a:t>Airbnb (46 - Drop) chỉ có 1 booking/user và target 12 quốc gia (58% NDF); Hotel Booking Demand (46 - Drop) không có ID khách hàng và 26.8% dòng trùng lặp.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docs/data_cards/trivago_2019.md, airbnb_new_user.md • docs/dataset_scores.md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Trang 08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PHỤ LỤC A • THANG ĐO RUBRIC (THAM CHIẾU)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Phương Pháp Chấm Điểm 11 Bộ Dữ Liệu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Quy trình chấm điểm 3 bước: 5 cổng Pass/Fail, 10 tiêu chí trọng số (thang 100), và kiểm định độ nhạy.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11480"/>
            <a:ext cx="1600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Segoe UI"/>
              </a:defRPr>
            </a:pPr>
            <a:r>
              <a:t>Appendix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0AF"/>
                </a:solidFill>
                <a:latin typeface="Segoe UI"/>
              </a:defRPr>
            </a:pPr>
            <a:r>
              <a:t>Bước 1: 5 Cổng Pass / Fail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G1: Giấy phép cho phép nghiên cứu.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G2: Sản phẩm gợi ý có ID ổn định.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G3: Nạp được trên máy phát triển.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G4: Ánh xạ được thành User x Item.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G5: Sẵn có trong data/raw/ và tái lập bằng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916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7830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0AF"/>
                </a:solidFill>
                <a:latin typeface="Segoe UI"/>
              </a:defRPr>
            </a:pPr>
            <a:r>
              <a:t>Bước 2: 10 Tiêu Chí (0–3 đ)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C1: Khớp bài toán đề bài (x3)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C2: Định danh User / Session (x2)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C3: Thông tin chuỗi thời gian (x2)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C4: Chiều sâu lịch sử tương tác (x2)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C5: Ngữ cảnh thực tế không giả lập (x2)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C6–C10: Metadata, Tín hiệu, Tính khả thi, Bán chéo, Chất lượng (mỗi mục x1)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91640"/>
            <a:ext cx="3429000" cy="3840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7830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0AF"/>
                </a:solidFill>
                <a:latin typeface="Segoe UI"/>
              </a:defRPr>
            </a:pPr>
            <a:r>
              <a:t>Bước 3: Quy Đổi Thang 100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Công thức: Điểm = (Tổng điểm / 48) x 100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&gt;= 70 Cốt lõi (Core): Expedia (79), Trivago (77), Akeed (73)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50–69 Thứ cấp (Secondary): Porto (69), Instacart (69), Yelp (62)...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&lt; 50 Loại bỏ (Drop): Airbnb (46), Hotel Booking Demand (46)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42432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rPr b="1"/>
              <a:t>🧪 Kiểm định độ nhạy C9 (Sensitivity Test):  </a:t>
            </a:r>
            <a:r>
              <a:t>Khi loại bỏ tiêu chí bán chéo C9 (tối đa 45 điểm), điểm số mảng du lịch tăng lên nhưng thứ hạng hoàn toàn không đổi: Expedia (80 - Core) &gt; Trivago (78 - Core) &gt; Airbnb (47 - Drop) &gt; Hotel Demand (47 - Drop). Khẳng định tính vững chắc của quyết định.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Nguồn: docs/dataset_rubric.md • reports/summary/travel_rubric_without_c9.txt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Phụ Lục A (Tham chiếu)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